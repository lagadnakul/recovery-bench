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1D-4ABC-957B-9FD499B00376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1D-4ABC-957B-9FD499B00376}"/>
              </c:ext>
            </c:extLst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1D-4ABC-957B-9FD499B00376}"/>
              </c:ext>
            </c:extLst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1D-4ABC-957B-9FD499B00376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1D-4ABC-957B-9FD499B00376}"/>
                </c:ext>
              </c:extLst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1D-4ABC-957B-9FD499B00376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 (60%)</c:v>
                </c:pt>
                <c:pt idx="1">
                  <c:v>Genuine FAIL (20%)</c:v>
                </c:pt>
                <c:pt idx="2">
                  <c:v>Malformed ERROR (20%)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D1D-4ABC-957B-9FD499B00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Recovered</c:v>
                </c:pt>
              </c:strCache>
            </c:strRef>
          </c:tx>
          <c:spPr>
            <a:solidFill>
              <a:srgbClr val="2E7D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Blind
Retry</c:v>
                </c:pt>
                <c:pt idx="1">
                  <c:v>Reflection</c:v>
                </c:pt>
                <c:pt idx="2">
                  <c:v>Diagnose
+Revise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0D-43F9-935A-78AEAEE4F8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Still Failed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Blind
Retry</c:v>
                </c:pt>
                <c:pt idx="1">
                  <c:v>Reflection</c:v>
                </c:pt>
                <c:pt idx="2">
                  <c:v>Diagnose
+Revise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0D-43F9-935A-78AEAEE4F8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383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5E8B8-CAC6-A3B5-BE80-DBB7BD39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4A074-96AB-578C-E93E-E792E74E3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90639-F156-D300-9686-019DDBB7D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C71C-D689-D0A9-61AA-0DF528486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54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502920"/>
            <a:ext cx="2011680" cy="10789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331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M-TECH DISSERTATION PHASE – 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0" y="2788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Presentation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717036" y="3127248"/>
            <a:ext cx="475488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566160"/>
            <a:ext cx="114574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Name:-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Nakul Lagad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Enrollment:-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2503032340022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Department:-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and Data Science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Faculty:- 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 TITLE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56032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and Failure Recovery in Agentic AI Coding Systems: A Systematic Review 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(Empirical extension: An Evaluation of Blind Retry, Reflection, and Diagnosis-Based Recovery Strategies for LLM Coding Agents)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(LLM) based autonomous coding agents can now navigate repositories, generate and modify code, execute development tools, and complete multi-step software engineering tasks with minimal human intervention.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such as SWE-agent, AutoCodeRover, RepairAgent, and OpenHands demonstrate this capability on realistic, repository-level tasks.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limitation persists: agents can often detect that an execution failure occurred, but rarely diagnose why it occurred, leading to repeated, ineffective repair attempts.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research question: Does providing an autonomous coding agent with real, ground-truth diagnostic evidence about a prior failure measurably improve its ability to recover, compared to blind retry or unguided self-reflection?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conduct a systematic literature review of self-reflection, memory, planning, and failure-recovery mechanisms in agentic AI coding systems and identify a validated research gap.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reproducible empirical pipeline capable of generating, applying, and evaluating LLM-proposed bug fixes on real repository-level tasks.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 fair, controlled comparison of three recovery strategies: Blind Retry, Reflection-only, and Diagnose+Revise.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and correct confounding factors (e.g., patch-formatting reliability) that could compromise the validity of the comparison.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the robustness of findings through an independent second round of testing.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analyze, document, and honestly report the results, including the methodological contributions arising from the study.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5C9D70-38D9-99B3-A2ED-07ABA66C5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866233"/>
              </p:ext>
            </p:extLst>
          </p:nvPr>
        </p:nvGraphicFramePr>
        <p:xfrm>
          <a:off x="387678" y="1243585"/>
          <a:ext cx="10699422" cy="4583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826">
                  <a:extLst>
                    <a:ext uri="{9D8B030D-6E8A-4147-A177-3AD203B41FA5}">
                      <a16:colId xmlns:a16="http://schemas.microsoft.com/office/drawing/2014/main" val="3865687224"/>
                    </a:ext>
                  </a:extLst>
                </a:gridCol>
                <a:gridCol w="3282248">
                  <a:extLst>
                    <a:ext uri="{9D8B030D-6E8A-4147-A177-3AD203B41FA5}">
                      <a16:colId xmlns:a16="http://schemas.microsoft.com/office/drawing/2014/main" val="1734663029"/>
                    </a:ext>
                  </a:extLst>
                </a:gridCol>
                <a:gridCol w="2965213">
                  <a:extLst>
                    <a:ext uri="{9D8B030D-6E8A-4147-A177-3AD203B41FA5}">
                      <a16:colId xmlns:a16="http://schemas.microsoft.com/office/drawing/2014/main" val="719323829"/>
                    </a:ext>
                  </a:extLst>
                </a:gridCol>
                <a:gridCol w="2967135">
                  <a:extLst>
                    <a:ext uri="{9D8B030D-6E8A-4147-A177-3AD203B41FA5}">
                      <a16:colId xmlns:a16="http://schemas.microsoft.com/office/drawing/2014/main" val="1886501000"/>
                    </a:ext>
                  </a:extLst>
                </a:gridCol>
              </a:tblGrid>
              <a:tr h="428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928083"/>
                  </a:ext>
                </a:extLst>
              </a:tr>
              <a:tr h="14145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Xia et al. (2024)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SWE-agent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Introduced repository-aware autonomous software engineering using real repositories and developer tools.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Limited adaptive recovery after repeated execution failures.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417383"/>
                  </a:ext>
                </a:extLst>
              </a:tr>
              <a:tr h="13463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Wang et al. (2024)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AutoCodeRover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Combined code search, localization, patch generation, and testing for automated bug fixing.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/>
                        <a:t>Performance decreases on complex multi-step debugging tasks.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462295"/>
                  </a:ext>
                </a:extLst>
              </a:tr>
              <a:tr h="13463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Muennighoff</a:t>
                      </a:r>
                      <a:r>
                        <a:rPr lang="en-IN" dirty="0"/>
                        <a:t> et al. (2024)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OpenHands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Enabled interactive software engineering through terminal and tool-based agent execution.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Lacks long-term memory and robust failure recovery.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6355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E0AF-177B-2408-E747-54EBD457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6F2FC9-2CFA-1224-9F4F-3DCF5CD2846B}"/>
              </a:ext>
            </a:extLst>
          </p:cNvPr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78061F-ED6C-1E4C-D58F-0A3A3B25943F}"/>
              </a:ext>
            </a:extLst>
          </p:cNvPr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>
            <a:extLst>
              <a:ext uri="{FF2B5EF4-FFF2-40B4-BE49-F238E27FC236}">
                <a16:creationId xmlns:a16="http://schemas.microsoft.com/office/drawing/2014/main" id="{FB81519F-374A-BD17-5A6E-00FCC0281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A3D4539-2B40-6D1B-9B00-B4F5CDDB0269}"/>
              </a:ext>
            </a:extLst>
          </p:cNvPr>
          <p:cNvSpPr txBox="1"/>
          <p:nvPr/>
        </p:nvSpPr>
        <p:spPr>
          <a:xfrm>
            <a:off x="502920" y="15186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A4B15B1-D5DE-3A66-DFDD-5A19B3172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373422"/>
              </p:ext>
            </p:extLst>
          </p:nvPr>
        </p:nvGraphicFramePr>
        <p:xfrm>
          <a:off x="473785" y="837662"/>
          <a:ext cx="10613315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9645">
                  <a:extLst>
                    <a:ext uri="{9D8B030D-6E8A-4147-A177-3AD203B41FA5}">
                      <a16:colId xmlns:a16="http://schemas.microsoft.com/office/drawing/2014/main" val="3865687224"/>
                    </a:ext>
                  </a:extLst>
                </a:gridCol>
                <a:gridCol w="3339191">
                  <a:extLst>
                    <a:ext uri="{9D8B030D-6E8A-4147-A177-3AD203B41FA5}">
                      <a16:colId xmlns:a16="http://schemas.microsoft.com/office/drawing/2014/main" val="1734663029"/>
                    </a:ext>
                  </a:extLst>
                </a:gridCol>
                <a:gridCol w="3028243">
                  <a:extLst>
                    <a:ext uri="{9D8B030D-6E8A-4147-A177-3AD203B41FA5}">
                      <a16:colId xmlns:a16="http://schemas.microsoft.com/office/drawing/2014/main" val="719323829"/>
                    </a:ext>
                  </a:extLst>
                </a:gridCol>
                <a:gridCol w="2706236">
                  <a:extLst>
                    <a:ext uri="{9D8B030D-6E8A-4147-A177-3AD203B41FA5}">
                      <a16:colId xmlns:a16="http://schemas.microsoft.com/office/drawing/2014/main" val="1886501000"/>
                    </a:ext>
                  </a:extLst>
                </a:gridCol>
              </a:tblGrid>
              <a:tr h="2118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928083"/>
                  </a:ext>
                </a:extLst>
              </a:tr>
              <a:tr h="11314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Wang et al. (2024)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LLM-Based Autonomous Agents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Proposed unified agent architecture with Profiling, Memory, Planning, and Action modules.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Reflection discussed conceptually without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462295"/>
                  </a:ext>
                </a:extLst>
              </a:tr>
              <a:tr h="11314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Abou Ali et al. (2025/2026)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Agentic AI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Introduced dual-paradigm taxonomy and future directions for Agentic AI..</a:t>
                      </a:r>
                      <a:endParaRPr lang="en-IN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experimental evaluation of coding-specific recovery mechanisms.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201645"/>
                  </a:ext>
                </a:extLst>
              </a:tr>
              <a:tr h="11314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N" dirty="0"/>
                        <a:t>Suri et al. (2024)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Self-improving Coding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Introduced iterative self-improvement through execution feedback and repeated refinement.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Limited root-cause analysis and long-term adaptive recovery.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179640"/>
                  </a:ext>
                </a:extLst>
              </a:tr>
              <a:tr h="11314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Huang et al. (2024)</a:t>
                      </a:r>
                      <a:endParaRPr lang="en-IN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Reflexion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Enabled agents to learn from execution failures using verbal self-reflection.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Reflection remains local and does not support persistent learning across tasks.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65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6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2023–2026 literature extensively diagnoses why coding agents fail (failure taxonomies, root-cause localization, process-level trajectory analysis), comparatively little work tests whether ACTING on that diagnosis improves recovery on repository-level tasks.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prior work, AgentDebug (AgentErrorTaxonomy / AgentErrorBench), provides diagnosis and iterative recovery — but was validated only on general agent environments (ALFWorld, GAIA, WebShop), never on repository-level coding.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remains unclear whether patch-formatting reliability and code-reasoning correctness — two conceptually distinct failure modes — are adequately separated in existing evaluation methodologies.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empirically established whether a structured detect → diagnose → revise → re-execute loop, grounded in real diagnostic evidence, actually improves recovery success on repository-level coding tasks, compared to simpler baselines such as blind retry or unguided self-reflection.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further remains unclear whether patch-formatting reliability and code-reasoning correctness are adequately separated in existing coding-agent evaluations, or whether they are conflated into a single pass/fail outcome.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RESEARCH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Pipeline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09344"/>
            <a:ext cx="5019339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SWE-bench Lite — real, resolved GitHub issues from open-source Python projects.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actual pre-fix file content directly from GitHub (real repository context, not memory-based guessing).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(Gemini 3.6 Flash) proposes a fix based on the real code.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fix into a reliable patch using an engineered SEARCH/REPLACE + programmatic-diff mechanism.</a:t>
            </a: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</a:t>
            </a: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official SWE-bench harness inside Docker containers, executed via WSL2.</a:t>
            </a:r>
          </a:p>
          <a:p>
            <a:pPr marL="0" indent="0">
              <a:lnSpc>
                <a:spcPts val="2200"/>
              </a:lnSpc>
              <a:buNone/>
            </a:pPr>
            <a:endParaRPr lang="en-US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17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1700" dirty="0"/>
          </a:p>
        </p:txBody>
      </p:sp>
      <p:sp>
        <p:nvSpPr>
          <p:cNvPr id="9" name="AutoShape 2" descr="Generated image 1">
            <a:extLst>
              <a:ext uri="{FF2B5EF4-FFF2-40B4-BE49-F238E27FC236}">
                <a16:creationId xmlns:a16="http://schemas.microsoft.com/office/drawing/2014/main" id="{FD870215-05CD-A423-05A8-B1B0ECE52D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Generated image 1">
            <a:extLst>
              <a:ext uri="{FF2B5EF4-FFF2-40B4-BE49-F238E27FC236}">
                <a16:creationId xmlns:a16="http://schemas.microsoft.com/office/drawing/2014/main" id="{0F5488B0-75DB-1862-6698-6F7D7290E8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C9A35-D4C8-4BAC-CF08-7D0F8323F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2259" y="1395983"/>
            <a:ext cx="6083002" cy="4135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RESEARCH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Recovery Strategies Compared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6636" y="1691282"/>
            <a:ext cx="5695905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Retry: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prompt, no new information — represents naive retry, common in current systems.</a:t>
            </a:r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Reflection-only: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shown its own failed attempt, asked to self-critique — no external ground truth.</a:t>
            </a:r>
          </a:p>
          <a:p>
            <a:pPr marL="0" indent="0">
              <a:lnSpc>
                <a:spcPts val="2200"/>
              </a:lnSpc>
              <a:buNone/>
            </a:pPr>
            <a:endParaRPr lang="en-US" sz="18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+ Revise (proposed contribution): </a:t>
            </a: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shown REAL test failure evidence, asked to diagnose the specific root cause before revising.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A4D5-78BA-5C4C-CE9D-A83587243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089" y="1618487"/>
            <a:ext cx="5695905" cy="38862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RESEARCH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Discovery: Separating Formatting from Reasoning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5394960" cy="3474720"/>
          </a:xfrm>
          <a:prstGeom prst="roundRect">
            <a:avLst>
              <a:gd name="adj" fmla="val 1579"/>
            </a:avLst>
          </a:prstGeom>
          <a:solidFill>
            <a:srgbClr val="FDEDEC"/>
          </a:solidFill>
          <a:ln w="12700">
            <a:solidFill>
              <a:srgbClr val="F1C4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Unified Diff Format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Diagnose+Revise attempts produced malformed, unusable patches — regardless of reasoning correctness.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394960" cy="3474720"/>
          </a:xfrm>
          <a:prstGeom prst="roundRect">
            <a:avLst>
              <a:gd name="adj" fmla="val 1579"/>
            </a:avLst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SEARCH/REPLACE + difflib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468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429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malformed-patch errors — the formatting failure mode was structurally eliminated, isolating reasoning quality for fair evaluation.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RESEARCH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Obtained (20-task pilot)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02920" y="160020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126480" y="160020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0/4 genuine logic failures recovered by any strategy — confirmed across two independent rounds.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0020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independent rounds of testing, Blind Retry, Reflection-only, and Diagnose+Revise produced identical results on genuine logic failures (0/4 recovered by any strategy) — a robust, honestly reported null finding.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Patch-formatting reliability and code-reasoning correctness were demonstrated to be separable failure modes: the SEARCH/REPLACE mechanism eliminated formatting failures entirely, isolating reasoning quality for fair comparison.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for genuinely hard bugs appears to be single-shot reasoning depth, not diagnostic information quality — Diagnose+Revise received the richest information and still showed no advantage.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platform-level validity threat was discovered and documented: native Windows execution of the evaluation harness silently corrupted results via CRLF line-ending encoding.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0020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empirical study to the full SWE-bench dataset (300+ tasks) to test generalizability of the null finding.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recovery across more than two iterative rounds, since Diagnose+Revise may benefit from repeated evidence-grounded revision.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oracle file-localization simplification by incorporating a real repository-search component.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across multiple LLMs and context-window sizes.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standardized, recovery-oriented evaluation metrics (diagnosis accuracy, recovery latency, repeated-failure reduction) beyond final task success.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Jimenez, C. E. et al. “SWE-Bench: Can Language Models Resolve Real-World GitHub Issues?” ICLR, 2024.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Yang, J. et al. “SWE-agent: Agent-Computer Interfaces Enable Automated Software Engineering.” NeurIPS, 2024.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Shinn, N. et al. “Reflexion: Language Agents with Verbal Reinforcement Learning.” NeurIPS, 2023.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Madaan, A. et al. “Self-Refine: Iterative Refinement with Self-Feedback.” NeurIPS, 2023.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Zhu, K. et al. “Where LLM Agents Fail and How They Can Learn from Failures.” arXiv:2509.25370, 2025.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Bouzenia, I. et al. “RepairAgent: An Autonomous, LLM-Based Agent for Program Repair.” ICSE, 2025.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Wang, X. et al. “OpenHands: An Open Platform for AI Software Developers as Generalist Agents.” ICLR, 2025.</a:t>
            </a:r>
            <a:endParaRPr lang="en-US" sz="1400" dirty="0"/>
          </a:p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Full 35-reference list available in the submitted systematic review, Manuscript No. INFSOF-D-26-01742.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pic>
        <p:nvPicPr>
          <p:cNvPr id="4" name="Image 0" descr="/home/claude/phase1ppt/cre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56032"/>
            <a:ext cx="1417320" cy="7589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STATUS REPORT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37160" y="1078992"/>
            <a:ext cx="11887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“Self-Reflection and Failure Recovery in Agentic AI Coding Systems: A Systematic Review” — Manuscript No. INFSOF-D-26-01742. Status: Submitted.</a:t>
            </a:r>
          </a:p>
          <a:p>
            <a:pPr marL="0" indent="0">
              <a:lnSpc>
                <a:spcPts val="2200"/>
              </a:lnSpc>
              <a:buNone/>
            </a:pPr>
            <a:endParaRPr lang="en-US" sz="17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study — “An Evaluation of Blind Retry, Reflection, and Diagnosis-Based Recovery Strategies for LLM Coding Agents”, based on original research carried out during Dissertation Phase-I. Status: Under preparation; to be submitted during Semester 4 as per program requirements.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73952"/>
            <a:ext cx="12188952" cy="164592"/>
          </a:xfrm>
          <a:prstGeom prst="rect">
            <a:avLst/>
          </a:prstGeom>
          <a:solidFill>
            <a:srgbClr val="E881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BD58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70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1486</Words>
  <Application>Microsoft Office PowerPoint</Application>
  <PresentationFormat>Widescreen</PresentationFormat>
  <Paragraphs>142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lagadchaitanya@outlook.com</cp:lastModifiedBy>
  <cp:revision>6</cp:revision>
  <dcterms:created xsi:type="dcterms:W3CDTF">2026-09-06T04:21:54Z</dcterms:created>
  <dcterms:modified xsi:type="dcterms:W3CDTF">2026-10-15T09:42:04Z</dcterms:modified>
</cp:coreProperties>
</file>